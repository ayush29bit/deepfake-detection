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0E9AA7"/>
                </a:solidFill>
                <a:latin typeface="Arial"/>
              </a:rPr>
              <a:t>FINAL YEAR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589520" cy="21945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40480"/>
            <a:ext cx="640080" cy="3657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589520" cy="45720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Ayush Tiwari   ·   Ayushman Patel   ·   Atharv Shukla   ·   Bhanupratap Chourasia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589520" cy="12801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BBC0C8"/>
                </a:solidFill>
                <a:latin typeface="Arial"/>
              </a:rPr>
              <a:t>Department of ____________________________   |   ____________________________ (Institution)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BBC0C8"/>
                </a:solidFill>
                <a:latin typeface="Arial"/>
              </a:rPr>
              <a:t>Faculty Guide: ____________________________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BBC0C8"/>
                </a:solidFill>
                <a:latin typeface="Arial"/>
              </a:rPr>
              <a:t>Presentation Date: 12 September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1828800"/>
            <a:ext cx="274320" cy="274320"/>
          </a:xfrm>
          <a:prstGeom prst="rect">
            <a:avLst/>
          </a:prstGeom>
          <a:solidFill>
            <a:srgbClr val="0B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961119" y="1828800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281159" y="1828800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601200" y="182880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921240" y="1828800"/>
            <a:ext cx="274320" cy="274320"/>
          </a:xfrm>
          <a:prstGeom prst="rect">
            <a:avLst/>
          </a:prstGeom>
          <a:solidFill>
            <a:srgbClr val="0B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0" y="182880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0561319" y="1828800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881359" y="1828800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201400" y="1828800"/>
            <a:ext cx="274320" cy="274320"/>
          </a:xfrm>
          <a:prstGeom prst="rect">
            <a:avLst/>
          </a:prstGeom>
          <a:solidFill>
            <a:srgbClr val="0B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641080" y="2148840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961119" y="2148840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281159" y="214884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601200" y="214884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921240" y="2148840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0241280" y="214884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561319" y="214884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0881359" y="2148840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201400" y="2148840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641080" y="2468880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961119" y="246888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281159" y="2468880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601200" y="246888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921240" y="2468880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0241280" y="246888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561319" y="2468880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0881359" y="246888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1201400" y="2468880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641080" y="278892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961119" y="278892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281159" y="278892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601200" y="278892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921240" y="278892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0241280" y="278892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561319" y="278892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0881359" y="278892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1201400" y="278892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641080" y="3108960"/>
            <a:ext cx="274320" cy="274320"/>
          </a:xfrm>
          <a:prstGeom prst="rect">
            <a:avLst/>
          </a:prstGeom>
          <a:solidFill>
            <a:srgbClr val="0B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961119" y="3108960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281159" y="3108960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9601200" y="310896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9921240" y="3108960"/>
            <a:ext cx="274320" cy="274320"/>
          </a:xfrm>
          <a:prstGeom prst="rect">
            <a:avLst/>
          </a:prstGeom>
          <a:solidFill>
            <a:srgbClr val="0E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241280" y="310896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0561319" y="3108960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0881359" y="3108960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11201400" y="3108960"/>
            <a:ext cx="274320" cy="274320"/>
          </a:xfrm>
          <a:prstGeom prst="rect">
            <a:avLst/>
          </a:prstGeom>
          <a:solidFill>
            <a:srgbClr val="0B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641080" y="342900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961119" y="342900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9281159" y="342900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9601200" y="342900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9921240" y="342900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0241280" y="342900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0561319" y="342900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0881359" y="342900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1201400" y="342900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8641080" y="3749039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8961119" y="374903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9281159" y="3749039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9601200" y="3749039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9921240" y="3749039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0241280" y="3749039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0561319" y="3749039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0881359" y="374903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1201400" y="3749039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641080" y="4069079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961119" y="4069079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9281159" y="406907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9601200" y="4069079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921240" y="4069079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10241280" y="4069079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0561319" y="406907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881359" y="4069079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1201400" y="4069079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8641080" y="4389120"/>
            <a:ext cx="274320" cy="274320"/>
          </a:xfrm>
          <a:prstGeom prst="rect">
            <a:avLst/>
          </a:prstGeom>
          <a:solidFill>
            <a:srgbClr val="0B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8961119" y="4389120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9281159" y="4389120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9601200" y="438912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9921240" y="4389120"/>
            <a:ext cx="274320" cy="274320"/>
          </a:xfrm>
          <a:prstGeom prst="rect">
            <a:avLst/>
          </a:prstGeom>
          <a:solidFill>
            <a:srgbClr val="0B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241280" y="4389120"/>
            <a:ext cx="274320" cy="274320"/>
          </a:xfrm>
          <a:prstGeom prst="rect">
            <a:avLst/>
          </a:prstGeom>
          <a:solidFill>
            <a:srgbClr val="0B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0561319" y="4389120"/>
            <a:ext cx="274320" cy="274320"/>
          </a:xfrm>
          <a:prstGeom prst="rect">
            <a:avLst/>
          </a:prstGeom>
          <a:solidFill>
            <a:srgbClr val="0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0881359" y="4389120"/>
            <a:ext cx="274320" cy="274320"/>
          </a:xfrm>
          <a:prstGeom prst="rect">
            <a:avLst/>
          </a:prstGeom>
          <a:solidFill>
            <a:srgbClr val="0B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1201400" y="4389120"/>
            <a:ext cx="274320" cy="274320"/>
          </a:xfrm>
          <a:prstGeom prst="rect">
            <a:avLst/>
          </a:prstGeom>
          <a:solidFill>
            <a:srgbClr val="0B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8641080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9006840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9372600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9738359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0104119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0469880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0835640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11201400" y="4983480"/>
            <a:ext cx="274320" cy="182880"/>
          </a:xfrm>
          <a:prstGeom prst="rect">
            <a:avLst/>
          </a:prstGeom>
          <a:noFill/>
          <a:ln w="9525">
            <a:solidFill>
              <a:srgbClr val="6D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641080" y="5257800"/>
            <a:ext cx="283464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98493"/>
                </a:solidFill>
                <a:latin typeface="Arial"/>
              </a:rPr>
              <a:t>spatial · temporal · frequency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Project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Final Year Major Project  ·  Deepfake Detection via Hybrid Spatial-Temporal-Frequency Feature Learning with Transformer-Based Fusion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349240" cy="17830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87552" y="2107692"/>
            <a:ext cx="950976" cy="9509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03120"/>
            <a:ext cx="3566160" cy="10058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Ayush Tiwari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Enrollment No.: ______________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691640"/>
            <a:ext cx="5349240" cy="17830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748271" y="2107692"/>
            <a:ext cx="950976" cy="9509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03120"/>
            <a:ext cx="3566160" cy="10058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Ayushman Patel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Enrollment No.: ______________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349240" cy="17830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87552" y="4210812"/>
            <a:ext cx="950976" cy="9509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206240"/>
            <a:ext cx="3566160" cy="10058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Atharv Shukla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Enrollment No.: 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794760"/>
            <a:ext cx="5349240" cy="17830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48271" y="4210812"/>
            <a:ext cx="950976" cy="9509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206240"/>
            <a:ext cx="3566160" cy="10058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Bhanupratap Chourasia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Enrollment No.: 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109960" cy="3200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Department of ____________________   |   ____________________ (Institution)   |   Faculty Guide: 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Problem Identification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035040" cy="47548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0B1F3A"/>
                </a:solidFill>
                <a:latin typeface="Arial"/>
              </a:rPr>
              <a:t>Why detection is hard, and why it is still an open problem</a:t>
            </a:r>
          </a:p>
          <a:p>
            <a:pPr algn="l" marL="201168" indent="-173736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350" b="0" i="0">
                <a:solidFill>
                  <a:srgbClr val="1B2430"/>
                </a:solidFill>
                <a:latin typeface="Arial"/>
              </a:rPr>
              <a:t>Deepfake technology enables highly realistic manipulation of facial content.</a:t>
            </a:r>
          </a:p>
          <a:p>
            <a:pPr algn="l" marL="201168" indent="-173736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350" b="0" i="0">
                <a:solidFill>
                  <a:srgbClr val="1B2430"/>
                </a:solidFill>
                <a:latin typeface="Arial"/>
              </a:rPr>
              <a:t>Human visual inspection is increasingly unreliable for judging authenticity.</a:t>
            </a:r>
          </a:p>
          <a:p>
            <a:pPr algn="l" marL="201168" indent="-173736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350" b="0" i="0">
                <a:solidFill>
                  <a:srgbClr val="1B2430"/>
                </a:solidFill>
                <a:latin typeface="Arial"/>
              </a:rPr>
              <a:t>Modern generation techniques reduce the obvious visual artifacts that early detectors relied on.</a:t>
            </a:r>
          </a:p>
          <a:p>
            <a:pPr algn="l" marL="201168" indent="-173736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350" b="0" i="0">
                <a:solidFill>
                  <a:srgbClr val="1B2430"/>
                </a:solidFill>
                <a:latin typeface="Arial"/>
              </a:rPr>
              <a:t>Detection models can become dependent on dataset-specific artifacts rather than general forgery cues.</a:t>
            </a:r>
          </a:p>
          <a:p>
            <a:pPr algn="l" marL="201168" indent="-173736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350" b="0" i="0">
                <a:solidFill>
                  <a:srgbClr val="1B2430"/>
                </a:solidFill>
                <a:latin typeface="Arial"/>
              </a:rPr>
              <a:t>A detector trained on one manipulation distribution may perform poorly on unseen data: new generators, different compression, lighting or capture conditions.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350" b="1" i="0">
                <a:solidFill>
                  <a:srgbClr val="1B2430"/>
                </a:solidFill>
                <a:latin typeface="Arial"/>
              </a:rPr>
              <a:t>Robust and generalizable detection therefore remains an important research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554480"/>
            <a:ext cx="3108960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Detector trained on known manipulation methods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046720" y="2331720"/>
            <a:ext cx="685800" cy="59436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29800" y="2331720"/>
            <a:ext cx="685800" cy="59436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903720" y="2926080"/>
            <a:ext cx="228600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B1F3A"/>
                </a:solidFill>
                <a:latin typeface="Arial"/>
              </a:rPr>
              <a:t>In-domain evaluation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Same dataset, same manipulation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2926080"/>
            <a:ext cx="2286000" cy="960120"/>
          </a:xfrm>
          <a:prstGeom prst="rect">
            <a:avLst/>
          </a:prstGeom>
          <a:solidFill>
            <a:srgbClr val="FBF1E6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B9772E"/>
                </a:solidFill>
                <a:latin typeface="Arial"/>
              </a:rPr>
              <a:t>Unseen conditions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New generators, compression, lighting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3886200"/>
            <a:ext cx="0" cy="54864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15600" y="3886200"/>
            <a:ext cx="0" cy="54864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03720" y="4434840"/>
            <a:ext cx="2286000" cy="685800"/>
          </a:xfrm>
          <a:prstGeom prst="rect">
            <a:avLst/>
          </a:prstGeom>
          <a:noFill/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Typically strong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4434840"/>
            <a:ext cx="2286000" cy="685800"/>
          </a:xfrm>
          <a:prstGeom prst="rect">
            <a:avLst/>
          </a:prstGeom>
          <a:noFill/>
          <a:ln w="9525">
            <a:solidFill>
              <a:srgbClr val="B9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B9772E"/>
                </a:solidFill>
                <a:latin typeface="Arial"/>
              </a:rPr>
              <a:t>Performance may degrade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3035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Illustration of the generalization problem this project targets. Not an experimental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Why Deepfake Detection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Reliable detection is one component of a broader response to synthetic media. Consequences of undetected manipulation: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5847" y="1965960"/>
            <a:ext cx="0" cy="1828800"/>
          </a:xfrm>
          <a:prstGeom prst="line">
            <a:avLst/>
          </a:prstGeom>
          <a:ln w="1587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095847" y="2880360"/>
            <a:ext cx="3523927" cy="914400"/>
          </a:xfrm>
          <a:prstGeom prst="line">
            <a:avLst/>
          </a:prstGeom>
          <a:ln w="1587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3794760"/>
            <a:ext cx="3523927" cy="914400"/>
          </a:xfrm>
          <a:prstGeom prst="line">
            <a:avLst/>
          </a:prstGeom>
          <a:ln w="1587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3794760"/>
            <a:ext cx="0" cy="1828800"/>
          </a:xfrm>
          <a:prstGeom prst="line">
            <a:avLst/>
          </a:prstGeom>
          <a:ln w="1587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571920" y="3794760"/>
            <a:ext cx="3523927" cy="914400"/>
          </a:xfrm>
          <a:prstGeom prst="line">
            <a:avLst/>
          </a:prstGeom>
          <a:ln w="1587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571920" y="2880360"/>
            <a:ext cx="3523927" cy="914400"/>
          </a:xfrm>
          <a:prstGeom prst="line">
            <a:avLst/>
          </a:prstGeom>
          <a:ln w="1587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318607" y="301752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Deepfake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media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7127" y="15316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Misinformation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Fabricated statements attributed to real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1054" y="24460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Identity impersonation &amp; fraud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Face spoofing in verification and social-engineering fraud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1054" y="42748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Reputation damage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Non-consensual or defamatory synthetic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7127" y="51892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Political &amp; social manipulation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Synthetic media used to influence public opinion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3200" y="42748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Loss of trust in digital media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Authentic footage can be dismissed as fake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3200" y="24460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Cybersecurity implications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Bypassing biometric checks; enabling targeted attacks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Detection Signals in Deepfake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66175" y="548640"/>
            <a:ext cx="3392424" cy="329184"/>
          </a:xfrm>
          <a:prstGeom prst="rect">
            <a:avLst/>
          </a:prstGeom>
          <a:solidFill>
            <a:srgbClr val="F3F6F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Arial"/>
              </a:rPr>
              <a:t>CONCEPTUAL FOUNDATION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5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56616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56616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SPATIAL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3383279" cy="3566160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1">
                <a:solidFill>
                  <a:srgbClr val="0B1F3A"/>
                </a:solidFill>
                <a:latin typeface="Arial"/>
              </a:rPr>
              <a:t>“What does the face look like?”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Individual-frame visual information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B2430"/>
                </a:solidFill>
                <a:latin typeface="Arial"/>
              </a:rPr>
              <a:t>May reveal: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Facial texture and edges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Blending boundaries and artifacts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Unnatural facial details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Local visual inconsistencies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" b="0" i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B2430"/>
                </a:solidFill>
                <a:latin typeface="Arial"/>
              </a:rPr>
              <a:t>Captured by (proposed):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Arial"/>
              </a:rPr>
              <a:t>Pretrained CNN / vision backbone applied to each face 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540" y="1417320"/>
            <a:ext cx="356616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0540" y="1417320"/>
            <a:ext cx="3566160" cy="4572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TEMPORAL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979" y="1965960"/>
            <a:ext cx="3383279" cy="3566160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1">
                <a:solidFill>
                  <a:srgbClr val="0B1F3A"/>
                </a:solidFill>
                <a:latin typeface="Arial"/>
              </a:rPr>
              <a:t>“How does the face change across frames?”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Relationships across the frame sequence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B2430"/>
                </a:solidFill>
                <a:latin typeface="Arial"/>
              </a:rPr>
              <a:t>May reveal: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Unnatural or jittery motion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Frame-to-frame inconsistencies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Blinking and facial movement patterns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Temporal artifacts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" b="0" i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B2430"/>
                </a:solidFill>
                <a:latin typeface="Arial"/>
              </a:rPr>
              <a:t>Captured by (proposed):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Arial"/>
              </a:rPr>
              <a:t>Transformer encoder over the sequence of frame-level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356616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566160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965960"/>
            <a:ext cx="3383279" cy="3566160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1">
                <a:solidFill>
                  <a:srgbClr val="0B1F3A"/>
                </a:solidFill>
                <a:latin typeface="Arial"/>
              </a:rPr>
              <a:t>“What hidden pixel-level patterns exist beneath the visual appearance?”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Frequency-domain representation of image information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B2430"/>
                </a:solidFill>
                <a:latin typeface="Arial"/>
              </a:rPr>
              <a:t>May reveal: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Abnormal spectral distributions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Up-sampling and blending traces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Periodic patterns not visible in pixel space</a:t>
            </a:r>
          </a:p>
          <a:p>
            <a:pPr algn="l" marL="201168" indent="-173736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Attenuated high-frequency detail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" b="0" i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B2430"/>
                </a:solidFill>
                <a:latin typeface="Arial"/>
              </a:rPr>
              <a:t>Captured by (proposed):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Arial"/>
              </a:rPr>
              <a:t>FFT/DCT transform followed by a neural feature extractor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11109960" cy="6400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0B1F3A"/>
                </a:solidFill>
                <a:latin typeface="Arial"/>
              </a:rPr>
              <a:t>The three signals are complementary. The proposed framework is designed to combine them rather than rely on any single one; no single cue is assumed to be present in every deepfake.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Landscape of prior approaches, grouped by the type of evidence they exploit. Bracketed numbers refer to the References slides.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109958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65494"/>
                <a:gridCol w="2625990"/>
                <a:gridCol w="2221992"/>
                <a:gridCol w="2625990"/>
                <a:gridCol w="2070492"/>
              </a:tblGrid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Main idea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Representative work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CNN-based detection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Train a convolutional network on face crops to classify real vs. manipulated frames.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Strong in-domain accuracy; simple to train from pretrained backbones.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Tends to learn dataset-specific spatial artifacts; accuracy can drop on unseen manipulations or compression.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MesoNet [4]; CNN baselines in FaceForensics++ [1]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Vision Transformer / Transformer-based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Apply self-attention over image patches or CNN feature maps to capture global context.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Models long-range dependencies; flexible attention over regions.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Data-hungry; remains frame-centric unless explicitly extended to video.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ViT [6]; CNN + ViT for video deepfakes [16]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Temporal / video-based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Model frame sequences with recurrent or attention modules to find inconsistencies over time.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Uses motion and coherence cues that single frames cannot provide.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Higher compute; sensitive to frame sampling and face-tracking quality.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RNN-based [11], [12]; temporal coherence [13]; eye blinking [14]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Frequency-domain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Analyse spectra (FFT/DCT) to expose up-sampling and blending traces left by generators.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Sensitive to generator artifacts that are subtle in pixel space.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Artifacts can be attenuated by compression; not guaranteed for every method.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F3-Net [8]; Frank et al. [10]; Durall et al. [9]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Hybrid / multi-stream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Combine several cue types (spatial, frequency, temporal, attention maps) in one model.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Complementary evidence can improve robustness.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More complex; the fusion strategy and its benefit must be validated by ablation.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Multi-attentional [17]; Face X-ray [15]</a:t>
                      </a: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Limitations observed across existing approaches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47672"/>
            <a:ext cx="109728" cy="109728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799"/>
            <a:ext cx="539496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Dependence on spatial artifacts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Single-frame appearance cues are generator-specific and easy to over-fit.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70632"/>
            <a:ext cx="109728" cy="109728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539496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Limited modeling of temporal consistency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Many detectors treat video as independent frames.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93591"/>
            <a:ext cx="109728" cy="109728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539496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Under-utilization of frequency-domain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Spectral cues are often ignored or used in isolation.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16552"/>
            <a:ext cx="109728" cy="109728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539496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Dataset-specific bias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Benchmarks share capture conditions and generators; models absorb these regularities.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39512"/>
            <a:ext cx="109728" cy="109728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539496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Weak cross-dataset generalization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B7F"/>
                </a:solidFill>
                <a:latin typeface="Arial"/>
              </a:rPr>
              <a:t>Performance frequently drops when evaluated on a different dataset.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417320"/>
            <a:ext cx="4983480" cy="2697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75120" y="1417320"/>
            <a:ext cx="109728" cy="26974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49440" y="1554480"/>
            <a:ext cx="4526280" cy="24688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RESEARCH QUESTION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Can combining spatial, temporal, and frequency-domain information through attention-based feature fusion improve the robustness of deepfake detection?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343400"/>
            <a:ext cx="4983480" cy="1600200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HYPOTHESIS  (to be tested, not yet validated)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B2430"/>
                </a:solidFill>
                <a:latin typeface="Arial"/>
              </a:rPr>
              <a:t>Complementary cues, fused with attention, may reduce dependence on any single artifact type and therefore hold up better under distribution shift (new manipulation methods, compression, capture conditions).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168128" y="548640"/>
            <a:ext cx="1490472" cy="329184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PROPOSED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8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008" cy="15544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246120" cy="1371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01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Spatial branch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Extract spatial information from RGB face frames with a pretrained CNN / vision backbone.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540" y="141732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0540" y="1417320"/>
            <a:ext cx="64008" cy="15544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03420" y="1527048"/>
            <a:ext cx="3246120" cy="1371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02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Frequency branch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Transform face frames into frequency representations (FFT/DCT) and learn discriminative frequency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64008" cy="15544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19" y="1527048"/>
            <a:ext cx="3246120" cy="1371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03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Temporal modeling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Learn relationships across the sampled frame sequence with a Transformer encoder.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72968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172968"/>
            <a:ext cx="64008" cy="15544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3282696"/>
            <a:ext cx="3246120" cy="1371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04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Attention-based fusion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Combine the complementary representations using Transformer-based attention rather than fixed weighting.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540" y="3172968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20540" y="3172968"/>
            <a:ext cx="64008" cy="15544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03420" y="3282696"/>
            <a:ext cx="3246120" cy="1371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05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Binary classification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Classification head producing a REAL / FAKE decision with a confidence score.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172968"/>
            <a:ext cx="35661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92440" y="3172968"/>
            <a:ext cx="64008" cy="15544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75319" y="3282696"/>
            <a:ext cx="3246120" cy="1371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06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Evaluation protocol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Measure in-domain performance and, where feasible, cross-dataset generalization; ablate each component.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65776"/>
            <a:ext cx="11109960" cy="96012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5138928"/>
            <a:ext cx="1463040" cy="8229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Project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266944"/>
            <a:ext cx="224028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900" b="1" i="0">
                <a:solidFill>
                  <a:srgbClr val="0B1F3A"/>
                </a:solidFill>
                <a:latin typeface="Arial"/>
              </a:rPr>
              <a:t>CONFIRMED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Topic and research direction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79" y="5266944"/>
            <a:ext cx="2240280" cy="566928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PROPOSED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Hybrid architecture (this deck)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266944"/>
            <a:ext cx="2240280" cy="566928"/>
          </a:xfrm>
          <a:prstGeom prst="rect">
            <a:avLst/>
          </a:prstGeom>
          <a:solidFill>
            <a:srgbClr val="E8EFF8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900" b="1" i="0">
                <a:solidFill>
                  <a:srgbClr val="1F4E8C"/>
                </a:solidFill>
                <a:latin typeface="Arial"/>
              </a:rPr>
              <a:t>PLANNED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Preprocessing, training, experiments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5266944"/>
            <a:ext cx="2240280" cy="566928"/>
          </a:xfrm>
          <a:prstGeom prst="rect">
            <a:avLst/>
          </a:prstGeom>
          <a:solidFill>
            <a:srgbClr val="FBF1E6"/>
          </a:solidFill>
          <a:ln w="9525">
            <a:solidFill>
              <a:srgbClr val="B9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900" b="1" i="0">
                <a:solidFill>
                  <a:srgbClr val="B9772E"/>
                </a:solidFill>
                <a:latin typeface="Arial"/>
              </a:rPr>
              <a:t>NOT YET AVAILABLE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Experimental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168128" y="548640"/>
            <a:ext cx="1490472" cy="329184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PROPOSED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9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1384280" cy="22402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FRAME-LEVEL PROCESSING  ·  applied to each of the N sampled frames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141732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input video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8" y="1965960"/>
            <a:ext cx="141732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Frame 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2734056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N evenly spaced frames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1376" y="1965960"/>
            <a:ext cx="141732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Face Detection &amp;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2734056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detector configurable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1965960"/>
            <a:ext cx="141732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2734056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crop · resize · normalize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2331720"/>
            <a:ext cx="384048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67328" y="2331720"/>
            <a:ext cx="384048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68696" y="2331720"/>
            <a:ext cx="384048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754112" y="1572768"/>
            <a:ext cx="1600200" cy="566928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Spatial Feature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157984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pretrained CNN / vision backbone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54112" y="2542032"/>
            <a:ext cx="1600200" cy="566928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Frequency Feature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3127248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FFT/DCT → log-magnitude → CNN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370064" y="1856231"/>
            <a:ext cx="384048" cy="475489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70064" y="2331720"/>
            <a:ext cx="384048" cy="493776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738360" y="1965960"/>
            <a:ext cx="1874519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Frame-level Feature Representation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73405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concat + projection, per frame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54312" y="1856231"/>
            <a:ext cx="384048" cy="475489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354312" y="2331720"/>
            <a:ext cx="384048" cy="493776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75620" y="2971800"/>
            <a:ext cx="0" cy="576072"/>
          </a:xfrm>
          <a:prstGeom prst="line">
            <a:avLst/>
          </a:prstGeom>
          <a:ln w="1905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645920" y="3547872"/>
            <a:ext cx="9029700" cy="0"/>
          </a:xfrm>
          <a:prstGeom prst="line">
            <a:avLst/>
          </a:prstGeom>
          <a:ln w="1905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45920" y="3547872"/>
            <a:ext cx="0" cy="795528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28800" y="3566160"/>
            <a:ext cx="5943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B1F3A"/>
                </a:solidFill>
                <a:latin typeface="Arial"/>
              </a:rPr>
              <a:t>N frame-level vectors form one sequence per video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794760"/>
            <a:ext cx="11384280" cy="19659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VIDEO-LEVEL MODELING  ·  operates on the sequence of N frame representations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43400"/>
            <a:ext cx="21945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Temporal Transformer Encoder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111496"/>
            <a:ext cx="2377440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self-attention across frames + positional encoding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343400"/>
            <a:ext cx="21945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Attention-based Feature Fusion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111496"/>
            <a:ext cx="2377440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attention-weighted aggregation of frame representations (configuration to be finalized)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343400"/>
            <a:ext cx="21945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Classification Head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111496"/>
            <a:ext cx="2377440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linear layer → sigmoid → FAKE probability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4343400"/>
            <a:ext cx="2194560" cy="7315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REAL / FAKE + Confidence 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111496"/>
            <a:ext cx="2377440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decision threshold 0.5 by default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43200" y="4709160"/>
            <a:ext cx="54864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86400" y="4709160"/>
            <a:ext cx="54864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29600" y="4709160"/>
            <a:ext cx="54864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5897880"/>
            <a:ext cx="1110996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The diagram reflects the proposed design. The exact backbone, face detector and fusion configuration will be selected during implementation.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Spatial Feature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168128" y="548640"/>
            <a:ext cx="1490472" cy="329184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PROPOSED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0350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Face Frame  →  CNN  →  Spatial Embedding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645920" cy="868680"/>
          </a:xfrm>
          <a:prstGeom prst="rect">
            <a:avLst/>
          </a:prstGeom>
          <a:solidFill>
            <a:srgbClr val="E8EFF8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Face frame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RGB crop, e.g. 224 × 224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395728"/>
            <a:ext cx="41148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606040" y="1965960"/>
            <a:ext cx="2103120" cy="8686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Pretrained CNN / Vision Backbone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60" y="2395728"/>
            <a:ext cx="41148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20640" y="1965960"/>
            <a:ext cx="1463040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Spatial embedding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B6BCC4"/>
                </a:solidFill>
                <a:latin typeface="Arial"/>
              </a:rPr>
              <a:t>feature vector, per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6035040" cy="5486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B9772E"/>
                </a:solidFill>
                <a:latin typeface="Arial"/>
              </a:rPr>
              <a:t>Backbone: final architecture to be selected during implementation. An ImageNet-pretrained ResNet18 is the initial candidate in the project implementation plan, kept configurable.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6035040" cy="192024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Why spatial information alone may be insufficient</a:t>
            </a:r>
          </a:p>
          <a:p>
            <a:pPr algn="l" marL="201168" indent="-173736">
              <a:lnSpc>
                <a:spcPct val="110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Spatial artifacts are generator- and dataset-specific: a model can over-fit to them and fail on unseen manipulation methods.</a:t>
            </a:r>
          </a:p>
          <a:p>
            <a:pPr algn="l" marL="201168" indent="-173736">
              <a:lnSpc>
                <a:spcPct val="110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Compression, resizing and post-processing weaken fine-grained pixel cues.</a:t>
            </a:r>
          </a:p>
          <a:p>
            <a:pPr algn="l" marL="201168" indent="-173736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A single frame carries no information about motion or consistency over time.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49440" y="1417320"/>
          <a:ext cx="4709159" cy="1508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63433"/>
                <a:gridCol w="3445726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One face frame (RGB image)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Processing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CNN / vision backbone, pretrained on natural images; classification layer removed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Fixed-length spatial embedding describing the visual characteristics of the frame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9440" y="3291840"/>
            <a:ext cx="4709160" cy="2926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Examples of information the embedding may capture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Texture of skin and hair regions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Edges and contour sharpness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Facial structure and symmetry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Blending artifacts at face boundaries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Local inconsistencies in colour and lighting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Frequency-Domain Feature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168128" y="548640"/>
            <a:ext cx="1490472" cy="329184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PROPOSED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943600" cy="3108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Concept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An image can be represented in the spatial domain (pixels) or in the frequency domain.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The frequency representation describes how rapidly pixel intensities vary across the image.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Low-frequency components represent smooth structures; high-frequency components capture fine detail and rapid changes.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Deepfake generation and post-processing (up-sampling, blending, re-compression) </a:t>
            </a:r>
            <a:r>
              <a:rPr sz="1200" b="1" i="0">
                <a:solidFill>
                  <a:srgbClr val="1B2430"/>
                </a:solidFill>
                <a:latin typeface="Arial"/>
              </a:rPr>
              <a:t>may</a:t>
            </a:r>
            <a:r>
              <a:rPr sz="1200" b="0" i="0">
                <a:solidFill>
                  <a:srgbClr val="1B2430"/>
                </a:solidFill>
                <a:latin typeface="Arial"/>
              </a:rPr>
              <a:t> introduce abnormal frequency patterns.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An FFT or DCT transforms a face frame into a frequency representation (e.g. a log-magnitude spectrum).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200" b="0" i="0">
                <a:solidFill>
                  <a:srgbClr val="1B2430"/>
                </a:solidFill>
                <a:latin typeface="Arial"/>
              </a:rPr>
              <a:t>A neural network can then learn which frequency patterns are discriminative.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2880360" cy="1051560"/>
          </a:xfrm>
          <a:prstGeom prst="rect">
            <a:avLst/>
          </a:prstGeom>
          <a:solidFill>
            <a:srgbClr val="E8EFF8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Low frequency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Smooth regions, overall shape and shading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4617720"/>
            <a:ext cx="2880360" cy="1051560"/>
          </a:xfrm>
          <a:prstGeom prst="rect">
            <a:avLst/>
          </a:prstGeom>
          <a:solidFill>
            <a:srgbClr val="E3F4F6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High frequency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Edges, texture, noise, up-sampling 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B9772E"/>
                </a:solidFill>
                <a:latin typeface="Arial"/>
              </a:rPr>
              <a:t>Frequency cues can provide additional discriminative information, but they are not assumed to be present in every deepfake.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463040"/>
            <a:ext cx="384048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Face frame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RGB face crop (same input as the spatial branch)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2084832"/>
            <a:ext cx="0" cy="27432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0" y="2359152"/>
            <a:ext cx="3840480" cy="6217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FFT / DCT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2-D transform; zero frequency shifted to the centre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980944"/>
            <a:ext cx="0" cy="27432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0" y="3255264"/>
            <a:ext cx="3840480" cy="621792"/>
          </a:xfrm>
          <a:prstGeom prst="rect">
            <a:avLst/>
          </a:prstGeom>
          <a:solidFill>
            <a:srgbClr val="E3F4F6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Frequency representation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log(1 + magnitude), normalized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35440" y="3877056"/>
            <a:ext cx="0" cy="27432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0" y="4151376"/>
            <a:ext cx="3840480" cy="6217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Neural feature extractor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lightweight CNN on the spectrum image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4773168"/>
            <a:ext cx="0" cy="27432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0" y="5047488"/>
            <a:ext cx="3840480" cy="621792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Frequency embedding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fixed-length vector, per frame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Temporal Feature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168128" y="548640"/>
            <a:ext cx="1490472" cy="329184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PROPOSED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8521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A video is a sequence of frames; each frame yields a feature 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005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Frame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2194560"/>
            <a:ext cx="0" cy="201168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1520" y="2395728"/>
            <a:ext cx="640080" cy="3657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B1F3A"/>
                </a:solidFill>
                <a:latin typeface="Arial"/>
              </a:rPr>
              <a:t>f1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189738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783080" y="1600200"/>
            <a:ext cx="1005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Frame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2194560"/>
            <a:ext cx="0" cy="201168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965960" y="2395728"/>
            <a:ext cx="640080" cy="3657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B1F3A"/>
                </a:solidFill>
                <a:latin typeface="Arial"/>
              </a:rPr>
              <a:t>f2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189738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17520" y="1600200"/>
            <a:ext cx="1005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Frame 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40" y="2194560"/>
            <a:ext cx="0" cy="201168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00400" y="2395728"/>
            <a:ext cx="640080" cy="3657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B1F3A"/>
                </a:solidFill>
                <a:latin typeface="Arial"/>
              </a:rPr>
              <a:t>f3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189738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51960" y="1600200"/>
            <a:ext cx="1005840" cy="5943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B6B7F"/>
                </a:solidFill>
                <a:latin typeface="Arial"/>
              </a:rPr>
              <a:t>· · 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395728"/>
            <a:ext cx="1005840" cy="3657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Arial"/>
              </a:rPr>
              <a:t>· · 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600200"/>
            <a:ext cx="1005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Frame 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2194560"/>
            <a:ext cx="0" cy="201168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669280" y="2395728"/>
            <a:ext cx="640080" cy="3657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B1F3A"/>
                </a:solidFill>
                <a:latin typeface="Arial"/>
              </a:rPr>
              <a:t>fN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798064"/>
            <a:ext cx="59436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frame-level feature vectors (spatial + frequency, fused per frame)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20440" y="3108960"/>
            <a:ext cx="0" cy="27432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" y="3383280"/>
            <a:ext cx="5943600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Transformer Encoder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positional encoding  +  multi-head self-attention across the frame sequence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20440" y="4251960"/>
            <a:ext cx="0" cy="27432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4526280"/>
            <a:ext cx="5943600" cy="731520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Contextualized frame representations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each frame's representation now depends on every other frame  →  temporal inconsistencies become visible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9496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Each element attends to all others, so the model can relate distant frames directly.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417320"/>
            <a:ext cx="4709160" cy="22860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Why a Transformer encoder rather than a recurrent model (proposed)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Self-attention models relationships between distant frames directly, without passing information step by step.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Sequence elements are processed in parallel during training.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It provides a flexible mechanism for learning temporal dependencies and for attention-based fusion in the same framework.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840480"/>
            <a:ext cx="4709160" cy="1783080"/>
          </a:xfrm>
          <a:prstGeom prst="rect">
            <a:avLst/>
          </a:prstGeom>
          <a:solidFill>
            <a:srgbClr val="FBF1E6"/>
          </a:solidFill>
          <a:ln w="9525">
            <a:solidFill>
              <a:srgbClr val="B9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B9772E"/>
                </a:solidFill>
                <a:latin typeface="Arial"/>
              </a:rPr>
              <a:t>NOT A LANGUAGE MODEL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Transformer ≠ LLM. The encoder used here has no tokenizer, no vocabulary and no language objective. It is a standard sequence model (e.g. PyTorch's Transformer encoder) applied to numeric frame embeddings, as in vision and video transformers [6], [7].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Attention-Based Feature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168128" y="548640"/>
            <a:ext cx="1490472" cy="329184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PROPOSED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13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28600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Spatial features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visual evidence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1965960"/>
            <a:ext cx="594360" cy="100584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2606040"/>
            <a:ext cx="2286000" cy="7315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Frequency features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hidden signal-level 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971800"/>
            <a:ext cx="59436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3611880"/>
            <a:ext cx="2286000" cy="73152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Temporal features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sequence / motion evidence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834640" y="2971800"/>
            <a:ext cx="594360" cy="100584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29000" y="214884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Attention / Transformer Fusion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input-dependent weighting of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2971800"/>
            <a:ext cx="41148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60720" y="2560320"/>
            <a:ext cx="123444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Fused representation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42900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→ classifier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6446520" cy="1371600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PROPOSED MECHANISM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Spatial and frequency embeddings are fused per frame; the Transformer encoder's self-attention then lets frame representations interact across the sequence; a video-level representation is obtained by aggregation (mean pooling or attention-weighted, to be finalized during implementation).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417320"/>
            <a:ext cx="4343400" cy="1463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Why attention rather than fixed weighting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Attention allows the model to learn which information source is more relevant for a particular input, instead of assigning identical importance to every feature source.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971800"/>
            <a:ext cx="43434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Intuition: an illustrative example (not a result)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0" y="3337560"/>
          <a:ext cx="4343398" cy="1389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01365"/>
                <a:gridCol w="1755842"/>
                <a:gridCol w="1386191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Evidence source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Observation for this input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Attention weight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Spatial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appearance mostly normal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lower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Temporal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suspicious motion pattern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higher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Frequency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suspicious spectral pattern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higher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5200" y="4937760"/>
            <a:ext cx="4343400" cy="11887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0B1F3A"/>
                </a:solidFill>
                <a:latin typeface="Arial"/>
              </a:rPr>
              <a:t>For this example the fusion mechanism can learn that the temporal and frequency evidence is more informative, and rely on it more than on the spatial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Dataset &amp; Preprocessing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4432" y="548640"/>
            <a:ext cx="1344168" cy="329184"/>
          </a:xfrm>
          <a:prstGeom prst="rect">
            <a:avLst/>
          </a:prstGeom>
          <a:solidFill>
            <a:srgbClr val="E8EFF8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1F4E8C"/>
                </a:solidFill>
                <a:latin typeface="Arial"/>
              </a:rPr>
              <a:t>PLANNED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14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852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73152" cy="14173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1508760"/>
            <a:ext cx="5532120" cy="12801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0B1F3A"/>
                </a:solidFill>
                <a:latin typeface="Arial"/>
              </a:rPr>
              <a:t>FaceForensics++ [1]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 i="0">
                <a:solidFill>
                  <a:srgbClr val="0E9AA7"/>
                </a:solidFill>
                <a:latin typeface="Arial"/>
              </a:rPr>
              <a:t>PRIMARY  ·  training and in-domain evaluation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Standard benchmark for deepfake detection research: real videos plus several manipulation methods, enabling reproducible comparison.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90088"/>
            <a:ext cx="5852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2990088"/>
            <a:ext cx="73152" cy="141732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081528"/>
            <a:ext cx="5532120" cy="12801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0B1F3A"/>
                </a:solidFill>
                <a:latin typeface="Arial"/>
              </a:rPr>
              <a:t>Celeb-DF [2]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 i="0">
                <a:solidFill>
                  <a:srgbClr val="1F4E8C"/>
                </a:solidFill>
                <a:latin typeface="Arial"/>
              </a:rPr>
              <a:t>GENERALIZATION  ·  cross-dataset evaluation, if feasible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Different deepfake characteristics from the training data; used only for testing (no fine-tuning) to probe generalization.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62856"/>
            <a:ext cx="5852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4562856"/>
            <a:ext cx="73152" cy="1417320"/>
          </a:xfrm>
          <a:prstGeom prst="rect">
            <a:avLst/>
          </a:prstGeom>
          <a:solidFill>
            <a:srgbClr val="B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4654296"/>
            <a:ext cx="5532120" cy="12801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0B1F3A"/>
                </a:solidFill>
                <a:latin typeface="Arial"/>
              </a:rPr>
              <a:t>DFDC [3]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1" i="0">
                <a:solidFill>
                  <a:srgbClr val="B9772E"/>
                </a:solidFill>
                <a:latin typeface="Arial"/>
              </a:rPr>
              <a:t>OPTIONAL  ·  subject to available compute and time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Very large and computationally expensive to preprocess and evaluate; considered only after the above are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371600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Preprocessing pipeline (per video)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783080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783080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Video loading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176272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176272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Frame sampling (N frames, evenly spaced)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569464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569464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Face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62656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962656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Face alignment / cropping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355848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355848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Resize to a fixed resolution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749039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749039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Normalization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142232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142232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Sequence construction (N face crops in order)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535424"/>
            <a:ext cx="329184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535424"/>
            <a:ext cx="4389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Label assignment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5029200"/>
            <a:ext cx="4800600" cy="1143000"/>
          </a:xfrm>
          <a:prstGeom prst="rect">
            <a:avLst/>
          </a:prstGeom>
          <a:solidFill>
            <a:srgbClr val="E8EFF8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Labels: REAL = 0,  FAKE = 1  (assigned per video)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Frames inherit the label of their video; the model predicts at video level from the frame sequence. Train / validation / test splits are formed at video level so frames of one video never appear in two splits.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4432" y="548640"/>
            <a:ext cx="1344168" cy="329184"/>
          </a:xfrm>
          <a:prstGeom prst="rect">
            <a:avLst/>
          </a:prstGeom>
          <a:solidFill>
            <a:srgbClr val="E8EFF8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1F4E8C"/>
                </a:solidFill>
                <a:latin typeface="Arial"/>
              </a:rPr>
              <a:t>PLANNED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15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4173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17320"/>
            <a:ext cx="73152" cy="31089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Dataset acquisition &amp; preprocessing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video loading, frame sampling, face extraction, dataset/loader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210312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83280" y="14173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83280" y="14173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4173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16168" y="1417320"/>
            <a:ext cx="73152" cy="3108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29000" y="1783080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Baseline CNN detector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frame-level classifier on pretrained backbone; validates the data pipeline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210312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217920" y="14173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17920" y="14173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4173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0808" y="1417320"/>
            <a:ext cx="73152" cy="3108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63640" y="1783080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Frequency branch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FFT/DCT → log-magnitude → lightweight CNN embedding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60" y="210312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052560" y="14173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052560" y="14173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14173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85448" y="1417320"/>
            <a:ext cx="73152" cy="3108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1783080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Temporal Transformer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positional encoding + Transformer encoder over frame sequences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0175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8640" y="30175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30175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528" y="3017520"/>
            <a:ext cx="73152" cy="3108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3383279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Attention-based feature fusion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per-frame fusion + attention-weighted aggregation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54680" y="370332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383280" y="30175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383280" y="30175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0175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16168" y="3017520"/>
            <a:ext cx="73152" cy="3108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29000" y="3383279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Training &amp; hyperparameter tuning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loss, optimizer, validation-based model selection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89320" y="370332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217920" y="30175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217920" y="30175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0175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50808" y="3017520"/>
            <a:ext cx="73152" cy="3108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63640" y="3383279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Evaluation &amp; cross-dataset testing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metrics, ablations, Celeb-DF transfer if feasible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23960" y="3703320"/>
            <a:ext cx="228600" cy="0"/>
          </a:xfrm>
          <a:prstGeom prst="line">
            <a:avLst/>
          </a:prstGeom>
          <a:ln w="15875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052560" y="30175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052560" y="3017520"/>
            <a:ext cx="2606040" cy="3108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PHASE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52760" y="3017520"/>
            <a:ext cx="960120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OPTIONAL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585448" y="3017520"/>
            <a:ext cx="73152" cy="310896"/>
          </a:xfrm>
          <a:prstGeom prst="rect">
            <a:avLst/>
          </a:prstGeom>
          <a:solidFill>
            <a:srgbClr val="B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98280" y="3383279"/>
            <a:ext cx="2514600" cy="960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Demo / deployment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1B2430"/>
                </a:solidFill>
                <a:latin typeface="Arial"/>
              </a:rPr>
              <a:t>optional minimal Streamlit or FastAPI interface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663440"/>
            <a:ext cx="11109960" cy="146304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31520" y="4773168"/>
            <a:ext cx="2011680" cy="5486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Core stack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0E9AA7"/>
                </a:solidFill>
                <a:latin typeface="Arial"/>
              </a:rPr>
              <a:t>confirmed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84632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0B1F3A"/>
                </a:solidFill>
                <a:latin typeface="Arial"/>
              </a:rPr>
              <a:t>Python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15968" y="484632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0B1F3A"/>
                </a:solidFill>
                <a:latin typeface="Arial"/>
              </a:rPr>
              <a:t>PyTorch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97296" y="484632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0B1F3A"/>
                </a:solidFill>
                <a:latin typeface="Arial"/>
              </a:rPr>
              <a:t>OpenCV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78624" y="484632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0B1F3A"/>
                </a:solidFill>
                <a:latin typeface="Arial"/>
              </a:rPr>
              <a:t>NumPy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59952" y="484632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0B1F3A"/>
                </a:solidFill>
                <a:latin typeface="Arial"/>
              </a:rPr>
              <a:t>SciPy (where required)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41280" y="4846320"/>
            <a:ext cx="1371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0B1F3A"/>
                </a:solidFill>
                <a:latin typeface="Arial"/>
              </a:rPr>
              <a:t>scikit-learn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440679"/>
            <a:ext cx="2011680" cy="5486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Optional tools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B9772E"/>
                </a:solidFill>
                <a:latin typeface="Arial"/>
              </a:rPr>
              <a:t>only if actually used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" y="5513831"/>
            <a:ext cx="28346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5B6B7F"/>
                </a:solidFill>
                <a:latin typeface="Arial"/>
              </a:rPr>
              <a:t>Streamlit / FastAPI (demo interface)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5513831"/>
            <a:ext cx="28346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5B6B7F"/>
                </a:solidFill>
                <a:latin typeface="Arial"/>
              </a:rPr>
              <a:t>TensorBoard / Weights &amp; Biases (tracking)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5513831"/>
            <a:ext cx="28346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5B6B7F"/>
                </a:solidFill>
                <a:latin typeface="Arial"/>
              </a:rPr>
              <a:t>Face detector library (configurable)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Training &amp; 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4432" y="548640"/>
            <a:ext cx="1344168" cy="329184"/>
          </a:xfrm>
          <a:prstGeom prst="rect">
            <a:avLst/>
          </a:prstGeom>
          <a:solidFill>
            <a:srgbClr val="E8EFF8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1F4E8C"/>
                </a:solidFill>
                <a:latin typeface="Arial"/>
              </a:rPr>
              <a:t>PLANNED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16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0718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20520" y="1851660"/>
            <a:ext cx="182880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03400" y="1508760"/>
            <a:ext cx="10718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Sampled frames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75280" y="1851660"/>
            <a:ext cx="182880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58160" y="1508760"/>
            <a:ext cx="10718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Face crops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30040" y="1851660"/>
            <a:ext cx="182880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12920" y="1508760"/>
            <a:ext cx="10718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Feature extraction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84800" y="1851660"/>
            <a:ext cx="182880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567680" y="1508760"/>
            <a:ext cx="10718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Temporal / fusion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39560" y="1851660"/>
            <a:ext cx="182880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822439" y="1508760"/>
            <a:ext cx="10718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REAL / FAKE prediction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94320" y="1851660"/>
            <a:ext cx="182879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77200" y="1508760"/>
            <a:ext cx="1071880" cy="6858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Loss calculation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9080" y="1851660"/>
            <a:ext cx="182880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331960" y="1508760"/>
            <a:ext cx="1071880" cy="6858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Backward pass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403840" y="1851660"/>
            <a:ext cx="182880" cy="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586720" y="1508760"/>
            <a:ext cx="1071880" cy="6858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Parameter update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122660" y="2194560"/>
            <a:ext cx="0" cy="228600"/>
          </a:xfrm>
          <a:prstGeom prst="line">
            <a:avLst/>
          </a:prstGeom>
          <a:ln w="12700">
            <a:solidFill>
              <a:srgbClr val="5B6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84580" y="2423160"/>
            <a:ext cx="10038080" cy="0"/>
          </a:xfrm>
          <a:prstGeom prst="line">
            <a:avLst/>
          </a:prstGeom>
          <a:ln w="12700">
            <a:solidFill>
              <a:srgbClr val="5B6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84580" y="2194560"/>
            <a:ext cx="0" cy="228600"/>
          </a:xfrm>
          <a:prstGeom prst="line">
            <a:avLst/>
          </a:prstGeom>
          <a:ln w="12700">
            <a:solidFill>
              <a:srgbClr val="5B6B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2468880"/>
            <a:ext cx="111099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backpropagation of the loss, then a parameter update; repeated over mini-batches and epochs, with validation after each epoch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71800"/>
            <a:ext cx="5669280" cy="32004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Training components (planned)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Binary cross-entropy loss on the video-level logit (REAL = 0, FAKE = 1)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Adam / AdamW optimizer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Transfer learning: pretrained backbone for the spatial branch where appropriate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Held-out validation set for model selection and hyperparameter choices</a:t>
            </a:r>
          </a:p>
          <a:p>
            <a:pPr algn="l" marL="201168" indent="-173736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Early stopping / checkpointing of the best validation model, if implemented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150" b="0" i="0">
                <a:solidFill>
                  <a:srgbClr val="1B2430"/>
                </a:solidFill>
                <a:latin typeface="Arial"/>
              </a:rPr>
              <a:t>Modest augmentation (flip, small rotation, mild colour jitter) applied before the frequency 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971800"/>
            <a:ext cx="507492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Experiment design: Baseline vs. Proposed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429000"/>
            <a:ext cx="2423160" cy="182880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5B6B7F"/>
                </a:solidFill>
                <a:latin typeface="Arial"/>
              </a:rPr>
              <a:t>BASELINE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CNN-based detector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Frame-level classification; per-frame outputs averaged over the sampled frames. No frequency branch, no temporal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429000"/>
            <a:ext cx="2423160" cy="1828800"/>
          </a:xfrm>
          <a:prstGeom prst="rect">
            <a:avLst/>
          </a:prstGeom>
          <a:solidFill>
            <a:srgbClr val="E3F4F6"/>
          </a:solidFill>
          <a:ln w="9525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0E9AA7"/>
                </a:solidFill>
                <a:latin typeface="Arial"/>
              </a:rPr>
              <a:t>PROPOSED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Hybrid model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Spatial + frequency + temporal Transformer with attention-based fusion; one prediction per video.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94960"/>
            <a:ext cx="507492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0B1F3A"/>
                </a:solidFill>
                <a:latin typeface="Arial"/>
              </a:rPr>
              <a:t>Both models are trained and evaluated on identical video-level splits with the same loss and metrics, so results are directly comparable.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Evaluation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80960" y="548640"/>
            <a:ext cx="3977639" cy="329184"/>
          </a:xfrm>
          <a:prstGeom prst="rect">
            <a:avLst/>
          </a:prstGeom>
          <a:solidFill>
            <a:srgbClr val="FBF1E6"/>
          </a:solidFill>
          <a:ln w="9525">
            <a:solidFill>
              <a:srgbClr val="B9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B9772E"/>
                </a:solidFill>
                <a:latin typeface="Arial"/>
              </a:rPr>
              <a:t>RESULTS NOT YET AVAILABLE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17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07568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Accuracy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share of videos classified correctly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417320"/>
            <a:ext cx="207568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Precision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of videos flagged FAKE, how many are fake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5776" y="1417320"/>
            <a:ext cx="207568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Recall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of fake videos, how many are flagged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4344" y="1417320"/>
            <a:ext cx="207568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F1-score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harmonic mean of precision and 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82912" y="1417320"/>
            <a:ext cx="207568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ROC-AUC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threshold-independent separability, where appropriate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468880"/>
          <a:ext cx="11109955" cy="1645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00775"/>
                <a:gridCol w="1461836"/>
                <a:gridCol w="1461836"/>
                <a:gridCol w="1461836"/>
                <a:gridCol w="1461836"/>
                <a:gridCol w="146183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Baseline CNN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Spatial + Frequency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Spatial + Temporal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B2430"/>
                          </a:solidFill>
                          <a:latin typeface="Arial"/>
                        </a:rPr>
                        <a:t>Full Proposed Model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160520"/>
            <a:ext cx="1110996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B9772E"/>
                </a:solidFill>
                <a:latin typeface="Arial"/>
              </a:rPr>
              <a:t>In-domain evaluation on the FaceForensics++ held-out test split, video-level predictions. </a:t>
            </a:r>
            <a:r>
              <a:rPr sz="1000" b="1" i="0">
                <a:solidFill>
                  <a:srgbClr val="B9772E"/>
                </a:solidFill>
                <a:latin typeface="Arial"/>
              </a:rPr>
              <a:t>Results will be populated after experimental evaluation.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11099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0B1F3A"/>
                </a:solidFill>
                <a:latin typeface="Arial"/>
              </a:rPr>
              <a:t>Cross-dataset evaluation (if implemented)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4892040"/>
          <a:ext cx="11109959" cy="932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88693"/>
                <a:gridCol w="3666286"/>
                <a:gridCol w="1110996"/>
                <a:gridCol w="1110996"/>
                <a:gridCol w="1110996"/>
                <a:gridCol w="1110996"/>
                <a:gridCol w="111099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FaceForensics++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FaceForensics++ (in-domain)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FaceForensics++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Celeb-DF (cross-dataset, no fine-tuning)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5943600"/>
            <a:ext cx="1110996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Every reported number will be accompanied by the model checkpoint, data split and configuration used to produce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Ablation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14432" y="548640"/>
            <a:ext cx="1344168" cy="329184"/>
          </a:xfrm>
          <a:prstGeom prst="rect">
            <a:avLst/>
          </a:prstGeom>
          <a:solidFill>
            <a:srgbClr val="E8EFF8"/>
          </a:solidFill>
          <a:ln w="9525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1F4E8C"/>
                </a:solidFill>
                <a:latin typeface="Arial"/>
              </a:rPr>
              <a:t>PLANNED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Each component is added in turn so that its individual contribution can be measured on the same data split.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109957" cy="24963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14375"/>
                <a:gridCol w="2457502"/>
                <a:gridCol w="921563"/>
                <a:gridCol w="1023959"/>
                <a:gridCol w="972761"/>
                <a:gridCol w="1433543"/>
                <a:gridCol w="3686254"/>
              </a:tblGrid>
              <a:tr h="4800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Exp.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Spatial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Frequency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Temporal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Attention-based fusion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it isolates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Spatial only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Value of the spatial branch alone (frame features averaged)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Spatial + Frequency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Contribution of frequency-domain features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Spatial + Temporal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Contribution of temporal modeling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Spatial + Frequency + Temporal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Complementarity of all three cues with simple aggregation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Full model with Transformer-based fusion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Arial"/>
                        </a:rPr>
                        <a:t>Added value of attention-based fusion over simple aggregation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4617720"/>
            <a:ext cx="5394960" cy="13258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Purpose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Arial"/>
              </a:rPr>
              <a:t>Determine whether each component actually contributes to performance, rather than assuming that a more complex model is better. Components that do not help will be reported as such.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617720"/>
            <a:ext cx="5440680" cy="13258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Protocol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Arial"/>
              </a:rPr>
              <a:t>Identical video-level splits, training schedule and metrics for every configuration; results reported on the held-out test split. Configurations D and E differ only in how frame representations are aggregated.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Expected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0" y="548640"/>
            <a:ext cx="6172200" cy="329184"/>
          </a:xfrm>
          <a:prstGeom prst="rect">
            <a:avLst/>
          </a:prstGeom>
          <a:solidFill>
            <a:srgbClr val="FBF1E6"/>
          </a:solidFill>
          <a:ln w="9525">
            <a:solidFill>
              <a:srgbClr val="B9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00" b="1" i="0">
                <a:solidFill>
                  <a:srgbClr val="B9772E"/>
                </a:solidFill>
                <a:latin typeface="Arial"/>
              </a:rPr>
              <a:t>EXPECTED OUTCOME  ·  RESEARCH 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Arial"/>
              </a:rPr>
              <a:t>The project aims to investigate whether hybrid feature learning can: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07568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2075688" cy="5486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1984248" cy="16916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OBJECTIVE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Improve robustness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to compression, quality variation and other nuisance factors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1600200"/>
            <a:ext cx="207568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807208" y="1600200"/>
            <a:ext cx="2075688" cy="5486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52928" y="1783080"/>
            <a:ext cx="1984248" cy="16916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OBJECTIVE 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Capture complementary forgery cues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appearance, motion and spectral evidence in one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600200"/>
            <a:ext cx="207568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65776" y="1600200"/>
            <a:ext cx="2075688" cy="5486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111496" y="1783080"/>
            <a:ext cx="1984248" cy="16916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OBJECTIVE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Reduce dependence on a single feature type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so that failure of one cue does not fail the detector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4344" y="1600200"/>
            <a:ext cx="207568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24344" y="1600200"/>
            <a:ext cx="2075688" cy="5486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70064" y="1783080"/>
            <a:ext cx="1984248" cy="16916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OBJECTIVE 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Improve generalization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to different manipulation distributions, tested cross-dataset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82912" y="1600200"/>
            <a:ext cx="207568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582912" y="1600200"/>
            <a:ext cx="2075688" cy="5486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28632" y="1783080"/>
            <a:ext cx="1984248" cy="16916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0E9AA7"/>
                </a:solidFill>
                <a:latin typeface="Arial"/>
              </a:rPr>
              <a:t>OBJECTIVE 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Provide a stronger research baseline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with ablations that future work can build 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11109960" cy="1737360"/>
          </a:xfrm>
          <a:prstGeom prst="rect">
            <a:avLst/>
          </a:prstGeom>
          <a:solidFill>
            <a:srgbClr val="FBF1E6"/>
          </a:solidFill>
          <a:ln w="9525">
            <a:solidFill>
              <a:srgbClr val="B9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B9772E"/>
                </a:solidFill>
                <a:latin typeface="Arial"/>
              </a:rPr>
              <a:t>WHAT THIS PROJECT DOES NOT CLAIM</a:t>
            </a:r>
          </a:p>
          <a:p>
            <a:pPr algn="l" marL="201168" indent="-173736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It does not claim to “solve” deepfakes; detection is an evolving problem as generation methods change.</a:t>
            </a:r>
          </a:p>
          <a:p>
            <a:pPr algn="l" marL="201168" indent="-173736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It does not claim state-of-the-art performance; any such claim requires experimental evidence that does not yet exist.</a:t>
            </a:r>
          </a:p>
          <a:p>
            <a:pPr algn="l" marL="201168" indent="-173736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100" b="0" i="0">
                <a:solidFill>
                  <a:srgbClr val="1B2430"/>
                </a:solidFill>
                <a:latin typeface="Arial"/>
              </a:rPr>
              <a:t>Improvements listed above are hypotheses. They will be confirmed or rejected by the planned experiments and ablations.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Limitations &amp;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20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17820" cy="10515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64008" cy="10515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5097780" cy="9601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Computational requirements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Video preprocessing and sequence models are expensive; frame count, resolution and dataset size must be budgeted against available GPU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79" y="1417320"/>
            <a:ext cx="5417820" cy="10515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40779" y="1417320"/>
            <a:ext cx="64008" cy="10515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3659" y="1490472"/>
            <a:ext cx="5097780" cy="9601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Dataset bias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Benchmarks share actors, capture set-ups and generators; a model may learn these regularities instead of forgery cues.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5417820" cy="10515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64008" cy="10515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2679192"/>
            <a:ext cx="5097780" cy="9601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Compression and video quality variations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Re-encoding attenuates high-frequency artifacts and can invalidate cues learned on higher-quality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0779" y="2606040"/>
            <a:ext cx="5417820" cy="10515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40779" y="2606040"/>
            <a:ext cx="64008" cy="10515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3659" y="2679192"/>
            <a:ext cx="5097780" cy="9601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Generalization to unseen manipulation methods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New generators may leave different traces; cross-dataset testing probes but cannot guarantee transfer.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5417820" cy="10515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64008" cy="10515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867912"/>
            <a:ext cx="5097780" cy="9601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False positives / false negatives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Both error types carry real cost (wrongly discrediting genuine footage vs. missing a forgery); thresholds must be reported, not hidden.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0779" y="3794760"/>
            <a:ext cx="5417820" cy="10515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40779" y="3794760"/>
            <a:ext cx="64008" cy="10515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3659" y="3867912"/>
            <a:ext cx="5097780" cy="9601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Highly sophisticated deepfakes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Some forgeries may leave few detectable traces in any of the three signals.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5417820" cy="1051560"/>
          </a:xfrm>
          <a:prstGeom prst="rect">
            <a:avLst/>
          </a:prstGeom>
          <a:solidFill>
            <a:srgbClr val="F3F6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64008" cy="10515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5056632"/>
            <a:ext cx="5097780" cy="9601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Dependence on face detection / alignment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B2430"/>
                </a:solidFill>
                <a:latin typeface="Arial"/>
              </a:rPr>
              <a:t>Detector failures, occlusion, profile views and multiple faces propagate errors into every downstream branch.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B7F"/>
                </a:solidFill>
                <a:latin typeface="Arial"/>
              </a:rPr>
              <a:t>Directions beyond the current project scope; none are claimed as part of this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Audio-visual detection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Combine lip-sync and voice consistency with the visual branches.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0020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20440" y="173736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Multimodal models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Joint reasoning over video, audio and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Real-time detection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Streaming inference with bounded latency per frame window.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60020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89720" y="173736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Lightweight edge deployment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Compressed models for mobile and on-device screening.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74904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Adversarial robustness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Resistance to perturbations designed to fool detectors.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61188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20440" y="374904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Explainable AI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Attention and saliency maps to show which frames or regions drove a decision.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374904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07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Emerging generation techniques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Diffusion-based and other new synthesis methods.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61188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89720" y="3749040"/>
            <a:ext cx="2331720" cy="1508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9AA7"/>
                </a:solidFill>
                <a:latin typeface="Arial"/>
              </a:rPr>
              <a:t>08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B1F3A"/>
                </a:solidFill>
                <a:latin typeface="Arial"/>
              </a:rPr>
              <a:t>Larger cross-dataset evaluation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B2430"/>
                </a:solidFill>
                <a:latin typeface="Arial"/>
              </a:rPr>
              <a:t>Broader benchmarks, including DFDC where compute allows.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09960" cy="3017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 marL="201168" indent="-173736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 i="0">
                <a:solidFill>
                  <a:srgbClr val="1B2430"/>
                </a:solidFill>
                <a:latin typeface="Arial"/>
              </a:rPr>
              <a:t>Deepfake detection is an important computer vision and cybersecurity problem.</a:t>
            </a:r>
          </a:p>
          <a:p>
            <a:pPr algn="l" marL="201168" indent="-173736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 i="0">
                <a:solidFill>
                  <a:srgbClr val="1B2430"/>
                </a:solidFill>
                <a:latin typeface="Arial"/>
              </a:rPr>
              <a:t>Existing detectors can perform well in-domain yet struggle to generalize to unseen data.</a:t>
            </a:r>
          </a:p>
          <a:p>
            <a:pPr algn="l" marL="201168" indent="-173736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 i="0">
                <a:solidFill>
                  <a:srgbClr val="1B2430"/>
                </a:solidFill>
                <a:latin typeface="Arial"/>
              </a:rPr>
              <a:t>The proposed system combines spatial, temporal and frequency-domain information.</a:t>
            </a:r>
          </a:p>
          <a:p>
            <a:pPr algn="l" marL="201168" indent="-173736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 i="0">
                <a:solidFill>
                  <a:srgbClr val="1B2430"/>
                </a:solidFill>
                <a:latin typeface="Arial"/>
              </a:rPr>
              <a:t>Transformer-based attention is used for sequence modeling and feature fusion.</a:t>
            </a:r>
          </a:p>
          <a:p>
            <a:pPr algn="l" marL="201168" indent="-173736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solidFill>
                  <a:srgbClr val="1B2430"/>
                </a:solidFill>
                <a:latin typeface="Arial"/>
              </a:rPr>
              <a:t>The project will evaluate, through ablations and cross-dataset tests, whether this hybrid architecture improves robustness.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17720"/>
            <a:ext cx="12191695" cy="1508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73152" cy="5943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59" y="4617720"/>
            <a:ext cx="10835640" cy="15087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1">
                <a:solidFill>
                  <a:srgbClr val="FFFFFF"/>
                </a:solidFill>
                <a:latin typeface="Arial"/>
              </a:rPr>
              <a:t>“From detecting how a face looks, to how it moves, to the hidden patterns beneath it.”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References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23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09960" cy="4937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[1]  A. Rössler, D. Cozzolino, L. Verdoliva, C. Riess, J. Thies, and M. Nießner, “FaceForensics++: Learning to Detect Manipulated Facial Images,” in Proc. IEEE/CVF Int. Conf. on Computer Vision (ICCV), 2019.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[2]  Y. Li, X. Yang, P. Sun, H. Qi, and S. Lyu, “Celeb-DF: A Large-Scale Challenging Dataset for DeepFake Forensics,” in Proc. IEEE/CVF Conf. on Computer Vision and Pattern Recognition (CVPR), 2020.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[3]  B. Dolhansky, J. Bitton, B. Pflaum, J. Lu, R. Howes, M. Wang, and C. C. Ferrer, “The DeepFake Detection Challenge (DFDC) Dataset,” arXiv:2006.07397, 2020.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[4]  D. Afchar, V. Nozick, J. Yamagishi, and I. Echizen, “MesoNet: A Compact Facial Video Forgery Detection Network,” in Proc. IEEE Int. Workshop on Information Forensics and Security (WIFS), 2018.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[5]  K. He, X. Zhang, S. Ren, and J. Sun, “Deep Residual Learning for Image Recognition,” in Proc. IEEE Conf. on Computer Vision and Pattern Recognition (CVPR), 2016.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[6]  A. Dosovitskiy et al., “An Image is Worth 16x16 Words: Transformers for Image Recognition at Scale,” in Proc. Int. Conf. on Learning Representations (ICLR), 2021.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[7]  A. Vaswani et al., “Attention Is All You Need,” in Advances in Neural Information Processing Systems (NeurIPS), 2017.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[8]  Y. Qian, G. Yin, L. Sheng, Z. Chen, and J. Shao, “Thinking in Frequency: Face Forgery Detection by Mining Frequency-Aware Clues,” in Proc. European Conf. on Computer Vision (ECCV), 2020.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[9]  R. Durall, M. Keuper, and J. Keuper, “Watch Your Up-Convolution: CNN Based Generative Deep Neural Networks Are Failing to Reproduce Spectral Distributions,” in Proc. IEEE/CVF CVPR, 2020.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[10]  J. Frank, T. Eule, A. Fischer, K. Rieck, D. Kolossa, and T. Holz, “Leveraging Frequency Analysis for Deep Fake Image Recognition,” in Proc. Int. Conf. on Machine Learning (ICML), 2020.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Arial"/>
              </a:rPr>
              <a:t>References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4572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48640" y="6355080"/>
            <a:ext cx="11109960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5B6B7F"/>
                </a:solidFill>
                <a:latin typeface="Arial"/>
              </a:rPr>
              <a:t>Deepfake Detection via Hybrid Spatial-Temporal-Frequency Feature Learning with Transformer-Based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82512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B7F"/>
                </a:solidFill>
                <a:latin typeface="Arial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09960" cy="4937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[11]  E. Sabir, J. Cheng, A. Jaiswal, W. AbdAlmageed, I. Masi, and P. Natarajan, “Recurrent Convolutional Strategies for Face Manipulation Detection in Videos,” in Proc. IEEE/CVF CVPR Workshops, 2019.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[12]  D. Güera and E. J. Delp, “Deepfake Video Detection Using Recurrent Neural Networks,” in Proc. IEEE Int. Conf. on Advanced Video and Signal Based Surveillance (AVSS), 2018.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[13]  Y. Zheng, J. Bao, D. Chen, M. Zeng, and F. Wen, “Exploring Temporal Coherence for More General Video Face Forgery Detection,” in Proc. IEEE/CVF ICCV, 2021.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[14]  Y. Li, M.-C. Chang, and S. Lyu, “In Ictu Oculi: Exposing AI Created Fake Videos by Detecting Eye Blinking,” in Proc. IEEE WIFS, 2018.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[15]  L. Li, J. Bao, T. Zhang, H. Yang, D. Chen, F. Wen, and B. Guo, “Face X-ray for More General Face Forgery Detection,” in Proc. IEEE/CVF CVPR, 2020.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[16]  D. A. Coccomini, N. Messina, C. Gennaro, and F. Falchi, “Combining EfficientNet and Vision Transformers for Video Deepfake Detection,” in Proc. Int. Conf. on Image Analysis and Processing (ICIAP), 2022.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[17]  H. Zhao, W. Zhou, D. Chen, T. Wei, W. Zhang, and N. Yu, “Multi-Attentional Deepfake Detection,” in Proc. IEEE/CVF CVPR, 2021.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[18]  R. Tolosana, R. Vera-Rodriguez, J. Fierrez, A. Morales, and J. Ortega-Garcia, “DeepFakes and Beyond: A Survey of Face Manipulation and Fake Detection,” Information Fusion, vol. 64, pp. 131–148, 2020.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[19]  L. Verdoliva, “Media Forensics and DeepFakes: An Overview,” IEEE Journal of Selected Topics in Signal Processing, vol. 14, no. 5, pp. 910–932, 2020.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0">
                <a:solidFill>
                  <a:srgbClr val="1B2430"/>
                </a:solidFill>
                <a:latin typeface="Arial"/>
              </a:rPr>
              <a:t>[20]  S.-Y. Wang, O. Wang, R. Zhang, A. Owens, and A. A. Efros, “CNN-Generated Images Are Surprisingly Easy to Spot… For Now,” in Proc. IEEE/CVF CVPR, 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10996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5B6B7F"/>
                </a:solidFill>
                <a:latin typeface="Arial"/>
              </a:rPr>
              <a:t>Citation style: IEEE. Bracketed numbers are used on the Related Work, Temporal Modeling and Dataset slides.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7772400" cy="10972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91840"/>
            <a:ext cx="640080" cy="3657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E9AA7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772400" cy="9144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DA5B0"/>
                </a:solidFill>
                <a:latin typeface="Arial"/>
              </a:rPr>
              <a:t>Deepfake Detection via Hybrid Spatial-Temporal-Frequency Feature Learning with Transformer-Based Fusion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9DA5B0"/>
                </a:solidFill>
                <a:latin typeface="Arial"/>
              </a:rPr>
              <a:t>Ayush Tiwari   ·   Ayushman Patel   ·   Atharv Shukla   ·   Bhanupratap Chourasia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2148840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646919" y="214884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966959" y="214884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287000" y="2148840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607040" y="214884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927080" y="214884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247119" y="2148840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326880" y="246888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646919" y="2468880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966959" y="246888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287000" y="2468880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607040" y="246888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927080" y="2468880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247119" y="2468880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326880" y="278892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646919" y="278892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966959" y="278892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0287000" y="278892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607040" y="278892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0927080" y="278892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247119" y="278892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326880" y="3108960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646919" y="3108960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966959" y="310896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0287000" y="3108960"/>
            <a:ext cx="274320" cy="274320"/>
          </a:xfrm>
          <a:prstGeom prst="rect">
            <a:avLst/>
          </a:prstGeom>
          <a:solidFill>
            <a:srgbClr val="0E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607040" y="310896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0927080" y="3108960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1247119" y="3108960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326880" y="342900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646919" y="342900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966959" y="342900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0287000" y="3429000"/>
            <a:ext cx="274320" cy="274320"/>
          </a:xfrm>
          <a:prstGeom prst="rect">
            <a:avLst/>
          </a:prstGeom>
          <a:solidFill>
            <a:srgbClr val="0D8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0607040" y="3429000"/>
            <a:ext cx="274320" cy="274320"/>
          </a:xfrm>
          <a:prstGeom prst="rect">
            <a:avLst/>
          </a:prstGeom>
          <a:solidFill>
            <a:srgbClr val="0D7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0927080" y="3429000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1247119" y="3429000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326880" y="374903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646919" y="3749039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966959" y="3749039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0287000" y="3749039"/>
            <a:ext cx="274320" cy="274320"/>
          </a:xfrm>
          <a:prstGeom prst="rect">
            <a:avLst/>
          </a:prstGeom>
          <a:solidFill>
            <a:srgbClr val="0D5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607040" y="3749039"/>
            <a:ext cx="274320" cy="274320"/>
          </a:xfrm>
          <a:prstGeom prst="rect">
            <a:avLst/>
          </a:prstGeom>
          <a:solidFill>
            <a:srgbClr val="0C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0927080" y="3749039"/>
            <a:ext cx="274320" cy="274320"/>
          </a:xfrm>
          <a:prstGeom prst="rect">
            <a:avLst/>
          </a:prstGeom>
          <a:solidFill>
            <a:srgbClr val="0C4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1247119" y="374903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9326880" y="4069079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646919" y="406907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966959" y="4069079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10287000" y="4069079"/>
            <a:ext cx="274320" cy="274320"/>
          </a:xfrm>
          <a:prstGeom prst="rect">
            <a:avLst/>
          </a:prstGeom>
          <a:solidFill>
            <a:srgbClr val="0C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10607040" y="4069079"/>
            <a:ext cx="274320" cy="274320"/>
          </a:xfrm>
          <a:prstGeom prst="rect">
            <a:avLst/>
          </a:prstGeom>
          <a:solidFill>
            <a:srgbClr val="0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0927080" y="4069079"/>
            <a:ext cx="274320" cy="274320"/>
          </a:xfrm>
          <a:prstGeom prst="rect">
            <a:avLst/>
          </a:prstGeom>
          <a:solidFill>
            <a:srgbClr val="0B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1247119" y="4069079"/>
            <a:ext cx="274320" cy="27432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